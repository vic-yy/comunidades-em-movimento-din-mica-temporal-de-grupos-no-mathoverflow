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bc714bf-e03d-5c7b-4a29-2cfed0194f23}">
          <p14:sldIdLst>
            <p14:sldId id="256"/>
          </p14:sldIdLst>
        </p14:section>
        <p14:section name="Problema e método" id="{6513b974-1d43-14a6-0f08-e494463902a2}">
          <p14:sldIdLst>
            <p14:sldId id="257"/>
            <p14:sldId id="258"/>
            <p14:sldId id="259"/>
          </p14:sldIdLst>
        </p14:section>
        <p14:section name="Resultados" id="{8d06ed56-a94e-364a-daf5-fc700743e8d9}">
          <p14:sldIdLst>
            <p14:sldId id="260"/>
            <p14:sldId id="261"/>
            <p14:sldId id="262"/>
            <p14:sldId id="263"/>
            <p14:sldId id="264"/>
          </p14:sldIdLst>
        </p14:section>
        <p14:section name="Fechamento" id="{3f4457e2-5a7a-6d6a-de81-6efd5a30470c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Arial"/>
              </a:rPr>
              <a:t>Jaccard médio por camada (janelas de 180 d, média de 5 sementes)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Teto de ruído (mesma janela, 2 sementes)</c:v>
                </c:pt>
              </c:strCache>
            </c:strRef>
          </c:tx>
          <c:spPr>
            <a:solidFill>
              <a:srgbClr val="8E9A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Completa</c:v>
                  </c:pt>
                  <c:pt idx="1">
                    <c:v>Respostas</c:v>
                  </c:pt>
                  <c:pt idx="2">
                    <c:v>Comentários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0.506</c:v>
                </c:pt>
                <c:pt idx="1">
                  <c:v>0.383</c:v>
                </c:pt>
                <c:pt idx="2">
                  <c:v>0.536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Jaccard observado t→t+1</c:v>
                </c:pt>
              </c:strCache>
            </c:strRef>
          </c:tx>
          <c:spPr>
            <a:solidFill>
              <a:srgbClr val="2A6F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Completa</c:v>
                  </c:pt>
                  <c:pt idx="1">
                    <c:v>Respostas</c:v>
                  </c:pt>
                  <c:pt idx="2">
                    <c:v>Comentários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0.187</c:v>
                </c:pt>
                <c:pt idx="1">
                  <c:v>0.128</c:v>
                </c:pt>
                <c:pt idx="2">
                  <c:v>0.192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Arial"/>
              </a:rPr>
              <a:t>Estabilidade por camada (180 d, 5 sementes)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Jaccard bruto</c:v>
                </c:pt>
              </c:strCache>
            </c:strRef>
          </c:tx>
          <c:spPr>
            <a:solidFill>
              <a:srgbClr val="8E9A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Completa</c:v>
                  </c:pt>
                  <c:pt idx="1">
                    <c:v>Respostas</c:v>
                  </c:pt>
                  <c:pt idx="2">
                    <c:v>Comentários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0.187</c:v>
                </c:pt>
                <c:pt idx="1">
                  <c:v>0.128</c:v>
                </c:pt>
                <c:pt idx="2">
                  <c:v>0.192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Normalizado pelo teto</c:v>
                </c:pt>
              </c:strCache>
            </c:strRef>
          </c:tx>
          <c:spPr>
            <a:solidFill>
              <a:srgbClr val="D95F0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Completa</c:v>
                  </c:pt>
                  <c:pt idx="1">
                    <c:v>Respostas</c:v>
                  </c:pt>
                  <c:pt idx="2">
                    <c:v>Comentários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0.371</c:v>
                </c:pt>
                <c:pt idx="1">
                  <c:v>0.334</c:v>
                </c:pt>
                <c:pt idx="2">
                  <c:v>0.359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Apresentar o grupo e o tema: como comunidades de discussão no MathOverflow se formam, persistem e se dissolvem em 6,4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Q&amp;A técnico gera estruturas fluidas, sem laços estáveis como amizade. Perguntamos: RQ1 estabilidade; RQ2 papel de especialistas e pontes; RQ3 respostas versus comentários.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Dataset SNAP sx-mathoverflow. Atenção: as contagens por camada da proposta estavam erradas; usamos as reais dos arquivos (107.581 / 203.639 / 195.330).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Janelas de 180 e 365 dias com 50% de sobreposição. Leiden no grafo não dirigido ponderado, mín. 10 nós. Rastreio: Jaccard&gt;=0,2 entre t e t+1. Especialista = top 5% PageRank; ponte = top 5% betweenness. Jaccard implementado diretamente, sem CDlib.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Rodar o Leiden duas vezes na MESMA janela com sementes diferentes dá Jaccard médio de 0,51 (rede completa), 0,38 (respostas), 0,54 (comentários). Esse é o teto do que se pode chamar de estável. Por isso normalizamos pelo teto.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(2,5 min) Q sobe de 0,29 a 0,53: a rede se organiza em comunidades com o tempo. Mas apenas 9,6% das linhagens chegam ao fim (22% em janelas de 365 d); mediana de vida = 1 janela. ~55% dos membros saem e ~57% são novos entre janelas ligadas. Com theta=0,2 quase não há fusão/divisão; com 0,1 aparecem 31 fusões e 22 divisões.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Regressão da estabilidade contínua (Jaccard do melhor sucessor) em fração de especialistas que saíram, fração de pontes e log do tamanho. Coeficiente de saída de especialistas negativo nas 8 configurações, significativo em 7. Logística para split/merge/morte: significativa em 3 de 8. Tamanho domina (R2 0,3-0,45). Associação, não causalidade.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(2,5 min) Reconstruímos G(t+1) sem os top 5% PageRank de t e recomputamos Leiden. Queda do Jaccard: -0,076 (completa), -0,093 (comentários), -0,019 (respostas). Remover 5% aleatórios: +0,01. Wilcoxon pareado p&lt;0,0001. A modularidade sobe porque hubs conectam comunidades; não é mais coesão. Experimento estrutural, não prova causalidade da saída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(2,5 min) Bruto: comentários 0,19 vs respostas 0,13 em 180 d; parece que debates são mais estáveis, contrariando a hipótese. Mas o teto de ruído das respostas é menor (0,38 vs 0,54) porque a rede é mais fragmentada. Normalizado: 0,359 vs 0,334 em 180 d (diferença pequena, 2-3 dp entre sementes) e sem diferença clara em 365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Janelas sobrepostas tornam observações dependentes. Contrafactual não prova causalidade. Resolução do Leiden condiciona resultados. Sem rótulos de tópico.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Resumo das três respostas e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Transparência sobre o uso de IA. O grupo deve revisar e validar as decisões e a interpretação.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Dinâmica e Evolução Temporal de Comunidades no MathOverflow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Computação Social — apresentação final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Grupo: [preencher nomes]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Três perguntas sobre comunidades que mudam no tempo</a:t>
            </a:r>
            <a:endParaRPr lang="en-US" sz="3000" dirty="0"/>
          </a:p>
        </p:txBody>
      </p:sp>
      <p:sp>
        <p:nvSpPr>
          <p:cNvPr id="4" name="rq card"/>
          <p:cNvSpPr/>
          <p:nvPr/>
        </p:nvSpPr>
        <p:spPr>
          <a:xfrm>
            <a:off x="548640" y="1554480"/>
            <a:ext cx="35661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q badge"/>
          <p:cNvSpPr/>
          <p:nvPr/>
        </p:nvSpPr>
        <p:spPr>
          <a:xfrm>
            <a:off x="822960" y="18288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RQ1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As comunidades mantêm estrutura ao longo dos anos ou têm alta rotatividade de membros?</a:t>
            </a:r>
            <a:endParaRPr lang="en-US" sz="1600" dirty="0"/>
          </a:p>
        </p:txBody>
      </p:sp>
      <p:sp>
        <p:nvSpPr>
          <p:cNvPr id="9" name="rq card"/>
          <p:cNvSpPr/>
          <p:nvPr/>
        </p:nvSpPr>
        <p:spPr>
          <a:xfrm>
            <a:off x="4297680" y="1554480"/>
            <a:ext cx="35661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q badge"/>
          <p:cNvSpPr/>
          <p:nvPr/>
        </p:nvSpPr>
        <p:spPr>
          <a:xfrm>
            <a:off x="4572000" y="18288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RQ2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Especialistas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6118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Fusões, divisões e mortes se associam à saída de usuários muito centrais ou à ausência de pontes?</a:t>
            </a:r>
            <a:endParaRPr lang="en-US" sz="1600" dirty="0"/>
          </a:p>
        </p:txBody>
      </p:sp>
      <p:sp>
        <p:nvSpPr>
          <p:cNvPr id="14" name="rq card"/>
          <p:cNvSpPr/>
          <p:nvPr/>
        </p:nvSpPr>
        <p:spPr>
          <a:xfrm>
            <a:off x="8046720" y="1554480"/>
            <a:ext cx="35661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rq badge"/>
          <p:cNvSpPr/>
          <p:nvPr/>
        </p:nvSpPr>
        <p:spPr>
          <a:xfrm>
            <a:off x="8321040" y="182880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RQ3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36118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dinâmica de respostas (resolução) difere da de comentários (debate)?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dado: 6,4 anos de interações dirigidas com timestamp</a:t>
            </a:r>
            <a:endParaRPr lang="en-US" sz="3000" dirty="0"/>
          </a:p>
        </p:txBody>
      </p:sp>
      <p:sp>
        <p:nvSpPr>
          <p:cNvPr id="4" name="stat card"/>
          <p:cNvSpPr/>
          <p:nvPr/>
        </p:nvSpPr>
        <p:spPr>
          <a:xfrm>
            <a:off x="548640" y="1463040"/>
            <a:ext cx="26060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506.550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interações dirigidas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3291840" y="1463040"/>
            <a:ext cx="26060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0440" y="1600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24.818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usuários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6035040" y="1463040"/>
            <a:ext cx="26060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1600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2.350 d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≈ 6,4 anos (2009–2016)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8778240" y="1463040"/>
            <a:ext cx="28346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06840" y="1600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56.990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autocomentários removidos só em c2q</a:t>
            </a:r>
            <a:endParaRPr lang="en-US" sz="1400" dirty="0"/>
          </a:p>
        </p:txBody>
      </p:sp>
      <p:sp>
        <p:nvSpPr>
          <p:cNvPr id="16" name="layer dot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3291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Respostas a perguntas (a2q)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107.581 arestas</a:t>
            </a:r>
            <a:endParaRPr lang="en-US" sz="2000" dirty="0"/>
          </a:p>
        </p:txBody>
      </p:sp>
      <p:sp>
        <p:nvSpPr>
          <p:cNvPr id="19" name="layer dot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7280" y="4069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Comentários em perguntas (c2q)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203.639 arestas</a:t>
            </a:r>
            <a:endParaRPr lang="en-US" sz="2000" dirty="0"/>
          </a:p>
        </p:txBody>
      </p:sp>
      <p:sp>
        <p:nvSpPr>
          <p:cNvPr id="22" name="layer dot"/>
          <p:cNvSpPr/>
          <p:nvPr/>
        </p:nvSpPr>
        <p:spPr>
          <a:xfrm>
            <a:off x="548640" y="4937760"/>
            <a:ext cx="365760" cy="36576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97280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Comentários em respostas (c2a)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195.330 arestas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Camada de debate = c2q + c2a. Camada de resolução = a2q.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Pipeline: janelas, Leiden, rastreio por Jaccard, centralidade</a:t>
            </a:r>
            <a:endParaRPr lang="en-US" sz="3000" dirty="0"/>
          </a:p>
        </p:txBody>
      </p:sp>
      <p:sp>
        <p:nvSpPr>
          <p:cNvPr id="4" name="step card"/>
          <p:cNvSpPr/>
          <p:nvPr/>
        </p:nvSpPr>
        <p:spPr>
          <a:xfrm>
            <a:off x="548640" y="164592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badge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918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180 e 365 d, 50% de sobreposição; grafo ponderado por nº de interações</a:t>
            </a:r>
            <a:endParaRPr lang="en-US" sz="1500" dirty="0"/>
          </a:p>
        </p:txBody>
      </p:sp>
      <p:sp>
        <p:nvSpPr>
          <p:cNvPr id="9" name="step card"/>
          <p:cNvSpPr/>
          <p:nvPr/>
        </p:nvSpPr>
        <p:spPr>
          <a:xfrm>
            <a:off x="3383280" y="164592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badge"/>
          <p:cNvSpPr/>
          <p:nvPr/>
        </p:nvSpPr>
        <p:spPr>
          <a:xfrm>
            <a:off x="361188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2918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Leiden (modularidade, γ=1), comunidades com ≥ 10 nós</a:t>
            </a:r>
            <a:endParaRPr lang="en-US" sz="1500" dirty="0"/>
          </a:p>
        </p:txBody>
      </p:sp>
      <p:sp>
        <p:nvSpPr>
          <p:cNvPr id="14" name="step card"/>
          <p:cNvSpPr/>
          <p:nvPr/>
        </p:nvSpPr>
        <p:spPr>
          <a:xfrm>
            <a:off x="6217920" y="164592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ep badge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Rastreio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2918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Jaccard ≥ 0,2 entre t e t+1: sobrevive, funde, divide, morre, nasce</a:t>
            </a:r>
            <a:endParaRPr lang="en-US" sz="1500" dirty="0"/>
          </a:p>
        </p:txBody>
      </p:sp>
      <p:sp>
        <p:nvSpPr>
          <p:cNvPr id="19" name="step card"/>
          <p:cNvSpPr/>
          <p:nvPr/>
        </p:nvSpPr>
        <p:spPr>
          <a:xfrm>
            <a:off x="9052560" y="164592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badge"/>
          <p:cNvSpPr/>
          <p:nvPr/>
        </p:nvSpPr>
        <p:spPr>
          <a:xfrm>
            <a:off x="928116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Papéis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2918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Top 5% PageRank (especialistas) e betweenness (pontes); regressões e contrafactual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Python: igraph + leidenalg, pandas, statsmodels, scipy. Controles: 5 sementes e teto de ruído do Leiden.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Antes de medir estabilidade: o Leiden já discorda dele mesmo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keaway card"/>
          <p:cNvSpPr/>
          <p:nvPr/>
        </p:nvSpPr>
        <p:spPr>
          <a:xfrm>
            <a:off x="7863840" y="1554480"/>
            <a:ext cx="374904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13816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Estabilidade normalizada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2240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0,36</a:t>
            </a:r>
            <a:endParaRPr lang="en-US" sz="5400" dirty="0"/>
          </a:p>
        </p:txBody>
      </p:sp>
      <p:sp>
        <p:nvSpPr>
          <p:cNvPr id="8" name="Text 4"/>
          <p:cNvSpPr txBox="1"/>
          <p:nvPr/>
        </p:nvSpPr>
        <p:spPr>
          <a:xfrm>
            <a:off x="8138160" y="3291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Jaccard t→t+1 dividido pelo teto. As três camadas ficam em 0,33–0,37 em janelas de 180 d.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4572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 Jaccard bruto compara mal camadas com fragmentação diferente.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RQ1: comunidades são efêmeras e a rotatividade é alta</a:t>
            </a:r>
            <a:endParaRPr lang="en-US" sz="3000" dirty="0"/>
          </a:p>
        </p:txBody>
      </p:sp>
      <p:pic>
        <p:nvPicPr>
          <p:cNvPr id="4" name="Image 0" descr="Modularidade, estabilidade e sobrevivência por camada (180 dia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950464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548640" y="457200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709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9,6%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das linhagens chegam à última janela (180 d)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4297680" y="457200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26280" y="4709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≈55%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4526280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dos membros saem entre janelas ligadas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8046720" y="457200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75320" y="4709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comunidades por janela, 349 nós em média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RQ2: especialistas que saem, comunidades que se desfazem</a:t>
            </a:r>
            <a:endParaRPr lang="en-US" sz="3000" dirty="0"/>
          </a:p>
        </p:txBody>
      </p:sp>
      <p:sp>
        <p:nvSpPr>
          <p:cNvPr id="4" name="stat card"/>
          <p:cNvSpPr/>
          <p:nvPr/>
        </p:nvSpPr>
        <p:spPr>
          <a:xfrm>
            <a:off x="548640" y="146304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de 8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configs: saída de especialistas reduz a estabilidade (OLS)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4297680" y="146304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configs: saída aumenta risco de divisão, fusão ou morte (logit)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8046720" y="146304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0,27–0,49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Spearman: pontes (betweenness) e estabilidade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38328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Tamanho é o preditor dominante (R² de 0,3 a 0,45): comunidades grandes são mais estáveis.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 efeito das pontes enfraquece quando se controlam tamanho e saída de especialistas.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Poucos eventos discretos (θ=0,2: ~0 fusões/divisões) limitam o poder da análise de eventos.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Contrafactual: remover os 5% mais centrais desestabiliza</a:t>
            </a:r>
            <a:endParaRPr lang="en-US" sz="3000" dirty="0"/>
          </a:p>
        </p:txBody>
      </p:sp>
      <p:pic>
        <p:nvPicPr>
          <p:cNvPr id="4" name="Image 0" descr="Variação de Jaccard e modularidade ao remover especialistas ou nós aleatór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2743200"/>
          </a:xfrm>
          <a:prstGeom prst="rect">
            <a:avLst/>
          </a:prstGeom>
        </p:spPr>
      </p:pic>
      <p:sp>
        <p:nvSpPr>
          <p:cNvPr id="5" name="takeaway card"/>
          <p:cNvSpPr/>
          <p:nvPr/>
        </p:nvSpPr>
        <p:spPr>
          <a:xfrm>
            <a:off x="7772400" y="1371600"/>
            <a:ext cx="3840480" cy="4663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4672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−0,076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8046720" y="24688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queda de Jaccard sem os especialistas (rede completa), contra +0,01 com nós aleatórios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046720" y="3840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Maior nos comentários (−0,093) que nas respostas (−0,019). Wilcoxon p &lt; 0,0001 em todas.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4937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ΔQ positivo é esperado: hubs ligam comunidades.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480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Experimento estrutural (reconstrói o grafo sem esses nós); não prova que a saída real cause a mudança.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RQ3: normalizado, respostas e comentários se igualam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keaway card"/>
          <p:cNvSpPr/>
          <p:nvPr/>
        </p:nvSpPr>
        <p:spPr>
          <a:xfrm>
            <a:off x="7680960" y="1554480"/>
            <a:ext cx="393192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55280" y="17830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Respostas: Q = 0,56, ≈20 comunidades pequenas, condutância 0,36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Comentários: Q = 0,46, ≈12 comunidades grandes, condutância 0,45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Hipótese de debate mais instável: não sustentada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Limitações e cuidados na interpretação</a:t>
            </a:r>
            <a:endParaRPr lang="en-US" sz="3000" dirty="0"/>
          </a:p>
        </p:txBody>
      </p:sp>
      <p:sp>
        <p:nvSpPr>
          <p:cNvPr id="4" name="limit card"/>
          <p:cNvSpPr/>
          <p:nvPr/>
        </p:nvSpPr>
        <p:spPr>
          <a:xfrm>
            <a:off x="548640" y="1463040"/>
            <a:ext cx="544068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Janelas com 50% de sobreposição: p-valores otimistas.</a:t>
            </a:r>
            <a:endParaRPr lang="en-US" sz="1700" dirty="0"/>
          </a:p>
        </p:txBody>
      </p:sp>
      <p:sp>
        <p:nvSpPr>
          <p:cNvPr id="7" name="limit card"/>
          <p:cNvSpPr/>
          <p:nvPr/>
        </p:nvSpPr>
        <p:spPr>
          <a:xfrm>
            <a:off x="6172200" y="1463040"/>
            <a:ext cx="544068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Causalidade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286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 contrafactual é estrutural; a saída real pode ter outras causas.</a:t>
            </a:r>
            <a:endParaRPr lang="en-US" sz="1700" dirty="0"/>
          </a:p>
        </p:txBody>
      </p:sp>
      <p:sp>
        <p:nvSpPr>
          <p:cNvPr id="10" name="limit card"/>
          <p:cNvSpPr/>
          <p:nvPr/>
        </p:nvSpPr>
        <p:spPr>
          <a:xfrm>
            <a:off x="548640" y="3749040"/>
            <a:ext cx="544068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572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γ=1 gera poucas comunidades grandes; com γ=2 quase nenhuma sobrevive.</a:t>
            </a:r>
            <a:endParaRPr lang="en-US" sz="1700" dirty="0"/>
          </a:p>
        </p:txBody>
      </p:sp>
      <p:sp>
        <p:nvSpPr>
          <p:cNvPr id="13" name="limit card"/>
          <p:cNvSpPr/>
          <p:nvPr/>
        </p:nvSpPr>
        <p:spPr>
          <a:xfrm>
            <a:off x="6172200" y="3749040"/>
            <a:ext cx="544068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4572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Sem rótulos de tópico, não sabemos se comunidades são áreas da matemática.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Conclusões</a:t>
            </a:r>
            <a:endParaRPr lang="en-US" sz="3000" dirty="0"/>
          </a:p>
        </p:txBody>
      </p:sp>
      <p:sp>
        <p:nvSpPr>
          <p:cNvPr id="4" name="conclusion card"/>
          <p:cNvSpPr/>
          <p:nvPr/>
        </p:nvSpPr>
        <p:spPr>
          <a:xfrm>
            <a:off x="548640" y="1463040"/>
            <a:ext cx="1106424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nclusion badge"/>
          <p:cNvSpPr/>
          <p:nvPr/>
        </p:nvSpPr>
        <p:spPr>
          <a:xfrm>
            <a:off x="822960" y="16459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RQ1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55448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Comunidades pouco duráveis: 6–23% das linhagens chegam ao fim; ~55% dos membros mudam entre janelas.</a:t>
            </a:r>
            <a:endParaRPr lang="en-US" sz="1800" dirty="0"/>
          </a:p>
        </p:txBody>
      </p:sp>
      <p:sp>
        <p:nvSpPr>
          <p:cNvPr id="8" name="conclusion card"/>
          <p:cNvSpPr/>
          <p:nvPr/>
        </p:nvSpPr>
        <p:spPr>
          <a:xfrm>
            <a:off x="548640" y="2880360"/>
            <a:ext cx="1106424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nclusion badge"/>
          <p:cNvSpPr/>
          <p:nvPr/>
        </p:nvSpPr>
        <p:spPr>
          <a:xfrm>
            <a:off x="822960" y="30632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063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RQ2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297180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Remover os 5% mais centrais reduz a estabilidade muito mais que nós aleatórios; pontes associam-se a maior estabilidade.</a:t>
            </a:r>
            <a:endParaRPr lang="en-US" sz="1800" dirty="0"/>
          </a:p>
        </p:txBody>
      </p:sp>
      <p:sp>
        <p:nvSpPr>
          <p:cNvPr id="12" name="conclusion card"/>
          <p:cNvSpPr/>
          <p:nvPr/>
        </p:nvSpPr>
        <p:spPr>
          <a:xfrm>
            <a:off x="548640" y="4297680"/>
            <a:ext cx="1106424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onclusion badge"/>
          <p:cNvSpPr/>
          <p:nvPr/>
        </p:nvSpPr>
        <p:spPr>
          <a:xfrm>
            <a:off x="822960" y="448056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480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RQ3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438912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Respostas e comentários são equivalentes após descontar o ruído do detector; a diferença bruta é artefato.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Próximos passos: tópicos das perguntas como validação externa, resolução multi-escala, modelo de sobrevivência com covariáveis.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Uso de IA generativa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Planejamento: viabilidade dos dados, refinamento de hipóteses (betweenness vs. grau), mapeamento de ferramentas.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Execução: um assistente de IA (Claude) escreveu e rodou o pipeline, as regressões e o contrafactual, e rascunhou o relatório e estes slides.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 assistente corrigiu as contagens por camada da proposta e sugeriu o controle de ruído que mudou a conclusão da RQ3.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Todos os números vêm de arquivos em results/ reproduzíveis com os scripts; decisões e interpretação são validadas pelo grupo.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hOverflow">
  <a:themeElements>
    <a:clrScheme name="MathOverflow">
      <a:dk1>
        <a:srgbClr val="1B2A41"/>
      </a:dk1>
      <a:lt1>
        <a:srgbClr val="FFFFFF"/>
      </a:lt1>
      <a:dk2>
        <a:srgbClr val="324A5F"/>
      </a:dk2>
      <a:lt2>
        <a:srgbClr val="EEF2F6"/>
      </a:lt2>
      <a:accent1>
        <a:srgbClr val="2A6FDB"/>
      </a:accent1>
      <a:accent2>
        <a:srgbClr val="D95F02"/>
      </a:accent2>
      <a:accent3>
        <a:srgbClr val="1B9E77"/>
      </a:accent3>
      <a:accent4>
        <a:srgbClr val="8E9AAF"/>
      </a:accent4>
      <a:accent5>
        <a:srgbClr val="6A4C93"/>
      </a:accent5>
      <a:accent6>
        <a:srgbClr val="C9A227"/>
      </a:accent6>
      <a:hlink>
        <a:srgbClr val="2A6FDB"/>
      </a:hlink>
      <a:folHlink>
        <a:srgbClr val="6A4C93"/>
      </a:folHlink>
    </a:clrScheme>
    <a:fontScheme name="MathOver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Dinâmica e Evolução Temporal de Comunidades no MathOverflow</dc:title>
  <dc:subject>PptxGenJS Presentation</dc:subject>
  <dc:creator>PptxGenJS</dc:creator>
  <cp:lastModifiedBy>PptxGenJS</cp:lastModifiedBy>
  <cp:revision>1</cp:revision>
  <dcterms:created xsi:type="dcterms:W3CDTF">2026-10-13T18:28:19Z</dcterms:created>
  <dcterms:modified xsi:type="dcterms:W3CDTF">2026-10-13T18:28:19Z</dcterms:modified>
</cp:coreProperties>
</file>